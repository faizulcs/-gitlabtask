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4"/>
  </p:notesMasterIdLst>
  <p:sldIdLst>
    <p:sldId id="256" r:id="rId2"/>
    <p:sldId id="257" r:id="rId3"/>
    <p:sldId id="262" r:id="rId4"/>
    <p:sldId id="266" r:id="rId5"/>
    <p:sldId id="267" r:id="rId6"/>
    <p:sldId id="268" r:id="rId7"/>
    <p:sldId id="269" r:id="rId8"/>
    <p:sldId id="261" r:id="rId9"/>
    <p:sldId id="258" r:id="rId10"/>
    <p:sldId id="259" r:id="rId11"/>
    <p:sldId id="260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724"/>
  </p:normalViewPr>
  <p:slideViewPr>
    <p:cSldViewPr snapToGrid="0" snapToObjects="1">
      <p:cViewPr varScale="1">
        <p:scale>
          <a:sx n="69" d="100"/>
          <a:sy n="69" d="100"/>
        </p:scale>
        <p:origin x="139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72B9A3-B08F-494C-8494-49DC46D38D9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44D2D-F7F8-45EE-95A9-96B872EC2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844D2D-F7F8-45EE-95A9-96B872EC22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897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6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530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5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727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13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05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17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8918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59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34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18387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5543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04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15200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496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386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Engineering</a:t>
            </a:r>
          </a:p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49098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bg2"/>
                          </a:solidFill>
                        </a:rPr>
                        <a:t>Farhan Ahmed Wasim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085051" y="1532427"/>
            <a:ext cx="4535462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Communication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4949" y="3847177"/>
            <a:ext cx="5611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Introduction to MATLAB</a:t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Objective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6" y="2363927"/>
            <a:ext cx="8255522" cy="3491927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To understand the use of MATLAB for solving communication engineering problems.</a:t>
            </a:r>
            <a:br>
              <a:rPr lang="en-US" sz="2400" dirty="0">
                <a:solidFill>
                  <a:srgbClr val="000000"/>
                </a:solidFill>
              </a:rPr>
            </a:br>
            <a:endParaRPr lang="en-US" sz="2400" dirty="0">
              <a:solidFill>
                <a:srgbClr val="000000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To develop understanding of MATLAB environment, commands and syntax.</a:t>
            </a:r>
            <a:br>
              <a:rPr lang="en-US" sz="2400" dirty="0">
                <a:solidFill>
                  <a:srgbClr val="000000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9192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sz="2400" dirty="0">
                <a:solidFill>
                  <a:srgbClr val="231F20"/>
                </a:solidFill>
              </a:rPr>
            </a:br>
            <a:br>
              <a:rPr lang="en-US" sz="2400" dirty="0">
                <a:solidFill>
                  <a:srgbClr val="000000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39" y="2071539"/>
            <a:ext cx="8527906" cy="419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8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9192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sz="2400" dirty="0">
                <a:solidFill>
                  <a:srgbClr val="231F20"/>
                </a:solidFill>
              </a:rPr>
            </a:br>
            <a:br>
              <a:rPr lang="en-US" sz="2400" dirty="0">
                <a:solidFill>
                  <a:srgbClr val="000000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32" y="2100115"/>
            <a:ext cx="8533968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3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9192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sz="2400" dirty="0">
                <a:solidFill>
                  <a:srgbClr val="231F20"/>
                </a:solidFill>
              </a:rPr>
            </a:br>
            <a:br>
              <a:rPr lang="en-US" sz="2400" dirty="0">
                <a:solidFill>
                  <a:srgbClr val="000000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41" y="1997219"/>
            <a:ext cx="8612332" cy="414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3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9192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sz="2400" dirty="0">
                <a:solidFill>
                  <a:srgbClr val="231F20"/>
                </a:solidFill>
              </a:rPr>
            </a:br>
            <a:br>
              <a:rPr lang="en-US" sz="2400" dirty="0">
                <a:solidFill>
                  <a:srgbClr val="000000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03" y="2074429"/>
            <a:ext cx="8608869" cy="413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33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9192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sz="2400" dirty="0">
                <a:solidFill>
                  <a:srgbClr val="231F20"/>
                </a:solidFill>
              </a:rPr>
            </a:br>
            <a:br>
              <a:rPr lang="en-US" sz="2400" dirty="0">
                <a:solidFill>
                  <a:srgbClr val="000000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34" y="2231448"/>
            <a:ext cx="8684201" cy="380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89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Practice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91927"/>
          </a:xfrm>
        </p:spPr>
        <p:txBody>
          <a:bodyPr>
            <a:normAutofit/>
          </a:bodyPr>
          <a:lstStyle/>
          <a:p>
            <a:br>
              <a:rPr lang="en-US" sz="2400" dirty="0">
                <a:solidFill>
                  <a:srgbClr val="000000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3600" b="1" dirty="0">
                <a:solidFill>
                  <a:srgbClr val="FF0000"/>
                </a:solidFill>
              </a:rPr>
              <a:t>LET’S START!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bg2"/>
                </a:solidFill>
              </a:rPr>
              <a:t>OPEN LAB MANUAL &amp;</a:t>
            </a:r>
            <a:br>
              <a:rPr lang="en-US" sz="2400" dirty="0">
                <a:solidFill>
                  <a:schemeClr val="bg2"/>
                </a:solidFill>
              </a:rPr>
            </a:br>
            <a:r>
              <a:rPr lang="en-US" sz="2400" dirty="0">
                <a:solidFill>
                  <a:schemeClr val="bg2"/>
                </a:solidFill>
              </a:rPr>
              <a:t>RUN PRACTICE PROBLEM IN COMMAND WINDOW</a:t>
            </a:r>
            <a:br>
              <a:rPr lang="en-US" sz="2400" dirty="0">
                <a:solidFill>
                  <a:schemeClr val="bg2"/>
                </a:solidFill>
              </a:rPr>
            </a:br>
            <a:r>
              <a:rPr lang="en-US" sz="2400" dirty="0">
                <a:solidFill>
                  <a:schemeClr val="bg2"/>
                </a:solidFill>
              </a:rPr>
              <a:t>THEN TRY PERFORMANCE PROBLEM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157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912182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2177811"/>
            <a:ext cx="847898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ysClr val="windowText" lastClr="000000"/>
                </a:solidFill>
              </a:rPr>
              <a:t>Performance Task : (your ID = AB-CDEFG-H)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**Generate two CDEF hertz sinusoids with different amplitudes and phases.</a:t>
            </a:r>
            <a:br>
              <a:rPr lang="en-US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                          </a:t>
            </a:r>
            <a:r>
              <a:rPr lang="en-US" i="1" dirty="0">
                <a:solidFill>
                  <a:sysClr val="windowText" lastClr="000000"/>
                </a:solidFill>
              </a:rPr>
              <a:t>x</a:t>
            </a:r>
            <a:r>
              <a:rPr lang="en-US" dirty="0">
                <a:solidFill>
                  <a:sysClr val="windowText" lastClr="000000"/>
                </a:solidFill>
              </a:rPr>
              <a:t>1(</a:t>
            </a:r>
            <a:r>
              <a:rPr lang="en-US" i="1" dirty="0">
                <a:solidFill>
                  <a:sysClr val="windowText" lastClr="000000"/>
                </a:solidFill>
              </a:rPr>
              <a:t>t</a:t>
            </a:r>
            <a:r>
              <a:rPr lang="en-US" dirty="0">
                <a:solidFill>
                  <a:sysClr val="windowText" lastClr="000000"/>
                </a:solidFill>
              </a:rPr>
              <a:t>) = </a:t>
            </a:r>
            <a:r>
              <a:rPr lang="en-US" i="1" dirty="0">
                <a:solidFill>
                  <a:sysClr val="windowText" lastClr="000000"/>
                </a:solidFill>
              </a:rPr>
              <a:t>A</a:t>
            </a:r>
            <a:r>
              <a:rPr lang="en-US" dirty="0">
                <a:solidFill>
                  <a:sysClr val="windowText" lastClr="000000"/>
                </a:solidFill>
              </a:rPr>
              <a:t>1 cos(2</a:t>
            </a:r>
            <a:r>
              <a:rPr lang="el-GR" dirty="0">
                <a:solidFill>
                  <a:sysClr val="windowText" lastClr="000000"/>
                </a:solidFill>
              </a:rPr>
              <a:t>π(</a:t>
            </a:r>
            <a:r>
              <a:rPr lang="en-US" dirty="0">
                <a:solidFill>
                  <a:sysClr val="windowText" lastClr="000000"/>
                </a:solidFill>
              </a:rPr>
              <a:t>CDEF)</a:t>
            </a:r>
            <a:r>
              <a:rPr lang="en-US" i="1" dirty="0">
                <a:solidFill>
                  <a:sysClr val="windowText" lastClr="000000"/>
                </a:solidFill>
              </a:rPr>
              <a:t>t </a:t>
            </a:r>
            <a:r>
              <a:rPr lang="en-US" dirty="0">
                <a:solidFill>
                  <a:sysClr val="windowText" lastClr="000000"/>
                </a:solidFill>
              </a:rPr>
              <a:t>+ j1) </a:t>
            </a:r>
            <a:r>
              <a:rPr lang="en-US" i="1" dirty="0">
                <a:solidFill>
                  <a:sysClr val="windowText" lastClr="000000"/>
                </a:solidFill>
              </a:rPr>
              <a:t>x</a:t>
            </a:r>
            <a:r>
              <a:rPr lang="en-US" dirty="0">
                <a:solidFill>
                  <a:sysClr val="windowText" lastClr="000000"/>
                </a:solidFill>
              </a:rPr>
              <a:t>2(</a:t>
            </a:r>
            <a:r>
              <a:rPr lang="en-US" i="1" dirty="0">
                <a:solidFill>
                  <a:sysClr val="windowText" lastClr="000000"/>
                </a:solidFill>
              </a:rPr>
              <a:t>t</a:t>
            </a:r>
            <a:r>
              <a:rPr lang="en-US" dirty="0">
                <a:solidFill>
                  <a:sysClr val="windowText" lastClr="000000"/>
                </a:solidFill>
              </a:rPr>
              <a:t>) = </a:t>
            </a:r>
            <a:r>
              <a:rPr lang="en-US" i="1" dirty="0">
                <a:solidFill>
                  <a:sysClr val="windowText" lastClr="000000"/>
                </a:solidFill>
              </a:rPr>
              <a:t>A</a:t>
            </a:r>
            <a:r>
              <a:rPr lang="en-US" dirty="0">
                <a:solidFill>
                  <a:sysClr val="windowText" lastClr="000000"/>
                </a:solidFill>
              </a:rPr>
              <a:t>2 cos(2</a:t>
            </a:r>
            <a:r>
              <a:rPr lang="el-GR" dirty="0">
                <a:solidFill>
                  <a:sysClr val="windowText" lastClr="000000"/>
                </a:solidFill>
              </a:rPr>
              <a:t>π(</a:t>
            </a:r>
            <a:r>
              <a:rPr lang="en-US" dirty="0">
                <a:solidFill>
                  <a:sysClr val="windowText" lastClr="000000"/>
                </a:solidFill>
              </a:rPr>
              <a:t>CDEF)</a:t>
            </a:r>
            <a:r>
              <a:rPr lang="en-US" i="1" dirty="0">
                <a:solidFill>
                  <a:sysClr val="windowText" lastClr="000000"/>
                </a:solidFill>
              </a:rPr>
              <a:t>t </a:t>
            </a:r>
            <a:r>
              <a:rPr lang="en-US" dirty="0">
                <a:solidFill>
                  <a:sysClr val="windowText" lastClr="000000"/>
                </a:solidFill>
              </a:rPr>
              <a:t>+ j2)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pPr marL="342900" indent="-342900" algn="just">
              <a:buAutoNum type="alphaLcParenBoth"/>
            </a:pPr>
            <a:r>
              <a:rPr lang="en-US" dirty="0">
                <a:solidFill>
                  <a:sysClr val="windowText" lastClr="000000"/>
                </a:solidFill>
              </a:rPr>
              <a:t>Select the value of the amplitudes as follows: let </a:t>
            </a:r>
            <a:r>
              <a:rPr lang="en-US" i="1" dirty="0">
                <a:solidFill>
                  <a:sysClr val="windowText" lastClr="000000"/>
                </a:solidFill>
              </a:rPr>
              <a:t>A</a:t>
            </a:r>
            <a:r>
              <a:rPr lang="en-US" dirty="0">
                <a:solidFill>
                  <a:sysClr val="windowText" lastClr="000000"/>
                </a:solidFill>
              </a:rPr>
              <a:t>1 = AB and </a:t>
            </a:r>
            <a:r>
              <a:rPr lang="en-US" i="1" dirty="0">
                <a:solidFill>
                  <a:sysClr val="windowText" lastClr="000000"/>
                </a:solidFill>
              </a:rPr>
              <a:t>A</a:t>
            </a:r>
            <a:r>
              <a:rPr lang="en-US" dirty="0">
                <a:solidFill>
                  <a:sysClr val="windowText" lastClr="000000"/>
                </a:solidFill>
              </a:rPr>
              <a:t>2 = GH. For the phases, use j1 = DG (in degrees), and take j2 = 30º. </a:t>
            </a:r>
            <a:r>
              <a:rPr lang="en-US" i="1" dirty="0">
                <a:solidFill>
                  <a:sysClr val="windowText" lastClr="000000"/>
                </a:solidFill>
              </a:rPr>
              <a:t>When doing computations in </a:t>
            </a:r>
            <a:r>
              <a:rPr lang="en-US" dirty="0" err="1">
                <a:solidFill>
                  <a:sysClr val="windowText" lastClr="000000"/>
                </a:solidFill>
              </a:rPr>
              <a:t>Matlab</a:t>
            </a:r>
            <a:r>
              <a:rPr lang="en-US" i="1" dirty="0">
                <a:solidFill>
                  <a:sysClr val="windowText" lastClr="000000"/>
                </a:solidFill>
              </a:rPr>
              <a:t>, make sure to convert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i="1" dirty="0">
                <a:solidFill>
                  <a:sysClr val="windowText" lastClr="000000"/>
                </a:solidFill>
              </a:rPr>
              <a:t>degrees to radians.</a:t>
            </a:r>
          </a:p>
          <a:p>
            <a:pPr marL="342900" indent="-342900" algn="just">
              <a:buAutoNum type="alphaLcParenBoth"/>
            </a:pPr>
            <a:endParaRPr lang="en-US" i="1" dirty="0">
              <a:solidFill>
                <a:sysClr val="windowText" lastClr="000000"/>
              </a:solidFill>
            </a:endParaRPr>
          </a:p>
          <a:p>
            <a:pPr marL="342900" indent="-342900" algn="just">
              <a:buAutoNum type="alphaLcParenBoth"/>
            </a:pPr>
            <a:r>
              <a:rPr lang="en-US" dirty="0">
                <a:solidFill>
                  <a:sysClr val="windowText" lastClr="000000"/>
                </a:solidFill>
              </a:rPr>
              <a:t> Make a plot of both signals over a range of </a:t>
            </a:r>
            <a:r>
              <a:rPr lang="en-US" i="1" dirty="0">
                <a:solidFill>
                  <a:sysClr val="windowText" lastClr="000000"/>
                </a:solidFill>
              </a:rPr>
              <a:t>t </a:t>
            </a:r>
            <a:r>
              <a:rPr lang="en-US" dirty="0">
                <a:solidFill>
                  <a:sysClr val="windowText" lastClr="000000"/>
                </a:solidFill>
              </a:rPr>
              <a:t>that will exhibit approximately 3 cycles. Make sure the plot starts at a negative time so that it will include </a:t>
            </a:r>
            <a:r>
              <a:rPr lang="en-US" i="1" dirty="0">
                <a:solidFill>
                  <a:sysClr val="windowText" lastClr="000000"/>
                </a:solidFill>
              </a:rPr>
              <a:t>t </a:t>
            </a:r>
            <a:r>
              <a:rPr lang="en-US" dirty="0">
                <a:solidFill>
                  <a:sysClr val="windowText" lastClr="000000"/>
                </a:solidFill>
              </a:rPr>
              <a:t>= 0, </a:t>
            </a:r>
            <a:r>
              <a:rPr lang="en-US" i="1" dirty="0">
                <a:solidFill>
                  <a:sysClr val="windowText" lastClr="000000"/>
                </a:solidFill>
              </a:rPr>
              <a:t>and make sure that you have at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i="1" dirty="0">
                <a:solidFill>
                  <a:sysClr val="windowText" lastClr="000000"/>
                </a:solidFill>
              </a:rPr>
              <a:t>least 20 samples per period of the wave.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</a:p>
          <a:p>
            <a:pPr marL="342900" indent="-342900" algn="just">
              <a:buAutoNum type="alphaLcParenBoth"/>
            </a:pPr>
            <a:endParaRPr lang="en-US" dirty="0">
              <a:solidFill>
                <a:sysClr val="windowText" lastClr="000000"/>
              </a:solidFill>
            </a:endParaRPr>
          </a:p>
          <a:p>
            <a:pPr marL="342900" indent="-342900" algn="just">
              <a:buAutoNum type="alphaLcParenBoth"/>
            </a:pPr>
            <a:r>
              <a:rPr lang="en-US" dirty="0">
                <a:solidFill>
                  <a:sysClr val="windowText" lastClr="000000"/>
                </a:solidFill>
              </a:rPr>
              <a:t>Verify that the phase of the two signals </a:t>
            </a:r>
            <a:r>
              <a:rPr lang="en-US" i="1" dirty="0">
                <a:solidFill>
                  <a:sysClr val="windowText" lastClr="000000"/>
                </a:solidFill>
              </a:rPr>
              <a:t>x</a:t>
            </a:r>
            <a:r>
              <a:rPr lang="en-US" dirty="0">
                <a:solidFill>
                  <a:sysClr val="windowText" lastClr="000000"/>
                </a:solidFill>
              </a:rPr>
              <a:t>1(</a:t>
            </a:r>
            <a:r>
              <a:rPr lang="en-US" i="1" dirty="0">
                <a:solidFill>
                  <a:sysClr val="windowText" lastClr="000000"/>
                </a:solidFill>
              </a:rPr>
              <a:t>t</a:t>
            </a:r>
            <a:r>
              <a:rPr lang="en-US" dirty="0">
                <a:solidFill>
                  <a:sysClr val="windowText" lastClr="000000"/>
                </a:solidFill>
              </a:rPr>
              <a:t>) and </a:t>
            </a:r>
            <a:r>
              <a:rPr lang="en-US" i="1" dirty="0">
                <a:solidFill>
                  <a:sysClr val="windowText" lastClr="000000"/>
                </a:solidFill>
              </a:rPr>
              <a:t>x</a:t>
            </a:r>
            <a:r>
              <a:rPr lang="en-US" dirty="0">
                <a:solidFill>
                  <a:sysClr val="windowText" lastClr="000000"/>
                </a:solidFill>
              </a:rPr>
              <a:t>2(</a:t>
            </a:r>
            <a:r>
              <a:rPr lang="en-US" i="1" dirty="0">
                <a:solidFill>
                  <a:sysClr val="windowText" lastClr="000000"/>
                </a:solidFill>
              </a:rPr>
              <a:t>t</a:t>
            </a:r>
            <a:r>
              <a:rPr lang="en-US" dirty="0">
                <a:solidFill>
                  <a:sysClr val="windowText" lastClr="000000"/>
                </a:solidFill>
              </a:rPr>
              <a:t>) is correct at </a:t>
            </a:r>
            <a:r>
              <a:rPr lang="en-US" i="1" dirty="0">
                <a:solidFill>
                  <a:sysClr val="windowText" lastClr="000000"/>
                </a:solidFill>
              </a:rPr>
              <a:t>t </a:t>
            </a:r>
            <a:r>
              <a:rPr lang="en-US" dirty="0">
                <a:solidFill>
                  <a:sysClr val="windowText" lastClr="000000"/>
                </a:solidFill>
              </a:rPr>
              <a:t>= 0, and also verify that each one has the correct maximum amplitude.</a:t>
            </a:r>
            <a:endParaRPr lang="en-US" sz="2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2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912182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421341" y="2363927"/>
            <a:ext cx="7754112" cy="39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itchFamily="2" charset="2"/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5985" y="2353087"/>
            <a:ext cx="849707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</a:rPr>
              <a:t>(d) Use subplot(3,1,1) and subplot(3,1,2) to make a three-panel subplot that puts both of these plots on the same window. See help subplot. 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pPr algn="just"/>
            <a:r>
              <a:rPr lang="en-US" dirty="0">
                <a:solidFill>
                  <a:srgbClr val="000000"/>
                </a:solidFill>
              </a:rPr>
              <a:t>(e) Create a third sinusoid as the sum: </a:t>
            </a:r>
            <a:r>
              <a:rPr lang="en-US" i="1" dirty="0">
                <a:solidFill>
                  <a:srgbClr val="000000"/>
                </a:solidFill>
              </a:rPr>
              <a:t>x</a:t>
            </a:r>
            <a:r>
              <a:rPr lang="en-US" sz="1050" dirty="0">
                <a:solidFill>
                  <a:srgbClr val="000000"/>
                </a:solidFill>
              </a:rPr>
              <a:t>3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i="1" dirty="0">
                <a:solidFill>
                  <a:srgbClr val="000000"/>
                </a:solidFill>
              </a:rPr>
              <a:t>t</a:t>
            </a:r>
            <a:r>
              <a:rPr lang="en-US" dirty="0">
                <a:solidFill>
                  <a:srgbClr val="000000"/>
                </a:solidFill>
              </a:rPr>
              <a:t>) = </a:t>
            </a:r>
            <a:r>
              <a:rPr lang="en-US" i="1" dirty="0">
                <a:solidFill>
                  <a:srgbClr val="000000"/>
                </a:solidFill>
              </a:rPr>
              <a:t>x</a:t>
            </a:r>
            <a:r>
              <a:rPr lang="en-US" sz="1050" dirty="0">
                <a:solidFill>
                  <a:srgbClr val="000000"/>
                </a:solidFill>
              </a:rPr>
              <a:t>1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i="1" dirty="0">
                <a:solidFill>
                  <a:srgbClr val="000000"/>
                </a:solidFill>
              </a:rPr>
              <a:t>t</a:t>
            </a:r>
            <a:r>
              <a:rPr lang="en-US" dirty="0">
                <a:solidFill>
                  <a:srgbClr val="000000"/>
                </a:solidFill>
              </a:rPr>
              <a:t>) + </a:t>
            </a:r>
            <a:r>
              <a:rPr lang="en-US" i="1" dirty="0">
                <a:solidFill>
                  <a:srgbClr val="000000"/>
                </a:solidFill>
              </a:rPr>
              <a:t>x</a:t>
            </a:r>
            <a:r>
              <a:rPr lang="en-US" sz="1050" dirty="0">
                <a:solidFill>
                  <a:srgbClr val="000000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i="1" dirty="0">
                <a:solidFill>
                  <a:srgbClr val="000000"/>
                </a:solidFill>
              </a:rPr>
              <a:t>t</a:t>
            </a:r>
            <a:r>
              <a:rPr lang="en-US" dirty="0">
                <a:solidFill>
                  <a:srgbClr val="000000"/>
                </a:solidFill>
              </a:rPr>
              <a:t>). In </a:t>
            </a:r>
            <a:r>
              <a:rPr lang="en-US" dirty="0" err="1">
                <a:solidFill>
                  <a:srgbClr val="000000"/>
                </a:solidFill>
              </a:rPr>
              <a:t>Matlab</a:t>
            </a:r>
            <a:r>
              <a:rPr lang="en-US" dirty="0">
                <a:solidFill>
                  <a:srgbClr val="000000"/>
                </a:solidFill>
              </a:rPr>
              <a:t> this amounts to summing the vectors that hold the samples of each sinusoid. Make a plot of </a:t>
            </a:r>
            <a:r>
              <a:rPr lang="en-US" i="1" dirty="0">
                <a:solidFill>
                  <a:srgbClr val="000000"/>
                </a:solidFill>
              </a:rPr>
              <a:t>x</a:t>
            </a:r>
            <a:r>
              <a:rPr lang="en-US" sz="1050" dirty="0">
                <a:solidFill>
                  <a:srgbClr val="000000"/>
                </a:solidFill>
              </a:rPr>
              <a:t>3 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i="1" dirty="0">
                <a:solidFill>
                  <a:srgbClr val="000000"/>
                </a:solidFill>
              </a:rPr>
              <a:t>t</a:t>
            </a:r>
            <a:r>
              <a:rPr lang="en-US" dirty="0">
                <a:solidFill>
                  <a:srgbClr val="000000"/>
                </a:solidFill>
              </a:rPr>
              <a:t>) over the same range of time as used in the previous two plots. Include this as the third panel in the window by using subplot (3,1,3). </a:t>
            </a:r>
          </a:p>
          <a:p>
            <a:pPr algn="just"/>
            <a:endParaRPr lang="en-US" dirty="0">
              <a:solidFill>
                <a:srgbClr val="000000"/>
              </a:solidFill>
            </a:endParaRPr>
          </a:p>
          <a:p>
            <a:pPr algn="just"/>
            <a:r>
              <a:rPr lang="en-US" dirty="0">
                <a:solidFill>
                  <a:srgbClr val="000000"/>
                </a:solidFill>
              </a:rPr>
              <a:t>(f) Measure the magnitude and phase of </a:t>
            </a:r>
            <a:r>
              <a:rPr lang="en-US" i="1" dirty="0">
                <a:solidFill>
                  <a:srgbClr val="000000"/>
                </a:solidFill>
              </a:rPr>
              <a:t>x</a:t>
            </a:r>
            <a:r>
              <a:rPr lang="en-US" sz="1050" dirty="0">
                <a:solidFill>
                  <a:srgbClr val="000000"/>
                </a:solidFill>
              </a:rPr>
              <a:t>3 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i="1" dirty="0">
                <a:solidFill>
                  <a:srgbClr val="000000"/>
                </a:solidFill>
              </a:rPr>
              <a:t>t</a:t>
            </a:r>
            <a:r>
              <a:rPr lang="en-US" dirty="0">
                <a:solidFill>
                  <a:srgbClr val="000000"/>
                </a:solidFill>
              </a:rPr>
              <a:t>) directly from the plot. In your lab report, explain how the magnitude and phase were measured by making annotations on each of the plots.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84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Predicted Result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41" y="2142259"/>
            <a:ext cx="8099204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22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985" y="2353087"/>
            <a:ext cx="84970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US" dirty="0" err="1">
                <a:solidFill>
                  <a:srgbClr val="000000"/>
                </a:solidFill>
              </a:rPr>
              <a:t>Matlab</a:t>
            </a:r>
            <a:r>
              <a:rPr lang="en-US" dirty="0">
                <a:solidFill>
                  <a:srgbClr val="000000"/>
                </a:solidFill>
              </a:rPr>
              <a:t> User Guide</a:t>
            </a:r>
          </a:p>
          <a:p>
            <a:pPr marL="342900" indent="-342900" algn="just"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MIT </a:t>
            </a:r>
            <a:r>
              <a:rPr lang="en-US" dirty="0" err="1">
                <a:solidFill>
                  <a:srgbClr val="000000"/>
                </a:solidFill>
              </a:rPr>
              <a:t>Oper</a:t>
            </a:r>
            <a:r>
              <a:rPr lang="en-US" dirty="0">
                <a:solidFill>
                  <a:srgbClr val="000000"/>
                </a:solidFill>
              </a:rPr>
              <a:t> Source Course- MATLAB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62395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EE">
  <a:themeElements>
    <a:clrScheme name="Custom 11">
      <a:dk1>
        <a:srgbClr val="FF6600"/>
      </a:dk1>
      <a:lt1>
        <a:srgbClr val="FEF2E6"/>
      </a:lt1>
      <a:dk2>
        <a:srgbClr val="FFA347"/>
      </a:dk2>
      <a:lt2>
        <a:srgbClr val="000000"/>
      </a:lt2>
      <a:accent1>
        <a:srgbClr val="FFFF00"/>
      </a:accent1>
      <a:accent2>
        <a:srgbClr val="FFA347"/>
      </a:accent2>
      <a:accent3>
        <a:srgbClr val="FF6600"/>
      </a:accent3>
      <a:accent4>
        <a:srgbClr val="FF6600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EEE" id="{7085EFE6-1651-4882-93F2-4A2A6E95977E}" vid="{54A24EE4-6E88-485C-AF6E-3EB622AD36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ThemeEEE</Template>
  <TotalTime>389</TotalTime>
  <Words>236</Words>
  <Application>Microsoft Office PowerPoint</Application>
  <PresentationFormat>On-screen Show (4:3)</PresentationFormat>
  <Paragraphs>67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ThemeEEE</vt:lpstr>
      <vt:lpstr>PowerPoint Presentation</vt:lpstr>
      <vt:lpstr>Lab Objective</vt:lpstr>
      <vt:lpstr>Getting Started</vt:lpstr>
      <vt:lpstr>Getting Started</vt:lpstr>
      <vt:lpstr>Getting Started</vt:lpstr>
      <vt:lpstr>Getting Started</vt:lpstr>
      <vt:lpstr>Getting Started</vt:lpstr>
      <vt:lpstr>Practice </vt:lpstr>
      <vt:lpstr>Instruction</vt:lpstr>
      <vt:lpstr>Instruction</vt:lpstr>
      <vt:lpstr>Predicted Result</vt:lpstr>
      <vt:lpstr>Reference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Abir Ahmed</cp:lastModifiedBy>
  <cp:revision>83</cp:revision>
  <dcterms:created xsi:type="dcterms:W3CDTF">2018-12-10T17:20:29Z</dcterms:created>
  <dcterms:modified xsi:type="dcterms:W3CDTF">2026-06-07T09:45:48Z</dcterms:modified>
</cp:coreProperties>
</file>